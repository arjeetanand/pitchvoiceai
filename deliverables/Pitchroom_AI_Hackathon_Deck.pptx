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73ff4047444ad6" /><Relationship Type="http://schemas.openxmlformats.org/officeDocument/2006/relationships/extended-properties" Target="/docProps/app.xml" Id="Rcb3820fe2d694a9e" /><Relationship Type="http://schemas.openxmlformats.org/officeDocument/2006/relationships/officeDocument" Target="/ppt/presentation.xml" Id="R1b07412fa2904d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e9222ec19740a4"/>
  </p:sldMasterIdLst>
  <p:notesMasterIdLst>
    <p:notesMasterId xmlns:r="http://schemas.openxmlformats.org/officeDocument/2006/relationships" r:id="R58a1cd4384964430"/>
  </p:notesMasterIdLst>
  <p:sldIdLst>
    <p:sldId xmlns:r="http://schemas.openxmlformats.org/officeDocument/2006/relationships" id="256" r:id="Refc6616396fc4a43"/>
    <p:sldId xmlns:r="http://schemas.openxmlformats.org/officeDocument/2006/relationships" id="257" r:id="R2b90b094ce7d40eb"/>
    <p:sldId xmlns:r="http://schemas.openxmlformats.org/officeDocument/2006/relationships" id="258" r:id="R313b6246ba9f471f"/>
    <p:sldId xmlns:r="http://schemas.openxmlformats.org/officeDocument/2006/relationships" id="259" r:id="Rec6b345c8e894538"/>
    <p:sldId xmlns:r="http://schemas.openxmlformats.org/officeDocument/2006/relationships" id="260" r:id="Ra98694a0763346d3"/>
    <p:sldId xmlns:r="http://schemas.openxmlformats.org/officeDocument/2006/relationships" id="261" r:id="R88ec9ad66dc545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c45d320e91441a" /><Relationship Type="http://schemas.openxmlformats.org/officeDocument/2006/relationships/slideMaster" Target="/ppt/slideMasters/slideMaster1.xml" Id="Rc7e9222ec19740a4" /><Relationship Type="http://schemas.openxmlformats.org/officeDocument/2006/relationships/notesMaster" Target="/ppt/notesMasters/notesMaster1.xml" Id="R58a1cd4384964430" /><Relationship Type="http://schemas.openxmlformats.org/officeDocument/2006/relationships/presProps" Target="/ppt/presProps.xml" Id="Rbb746a76b6ff40a1" /><Relationship Type="http://schemas.openxmlformats.org/officeDocument/2006/relationships/tableStyles" Target="/ppt/tableStyles.xml" Id="R5227f55efeba483a" /><Relationship Type="http://schemas.openxmlformats.org/officeDocument/2006/relationships/slide" Target="/ppt/slides/slide1.xml" Id="Refc6616396fc4a43" /><Relationship Type="http://schemas.openxmlformats.org/officeDocument/2006/relationships/slide" Target="/ppt/slides/slide2.xml" Id="R2b90b094ce7d40eb" /><Relationship Type="http://schemas.openxmlformats.org/officeDocument/2006/relationships/slide" Target="/ppt/slides/slide3.xml" Id="R313b6246ba9f471f" /><Relationship Type="http://schemas.openxmlformats.org/officeDocument/2006/relationships/slide" Target="/ppt/slides/slide4.xml" Id="Rec6b345c8e894538" /><Relationship Type="http://schemas.openxmlformats.org/officeDocument/2006/relationships/slide" Target="/ppt/slides/slide5.xml" Id="Ra98694a0763346d3" /><Relationship Type="http://schemas.openxmlformats.org/officeDocument/2006/relationships/slide" Target="/ppt/slides/slide6.xml" Id="R88ec9ad66dc545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486bfc0ebf48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bb4d06af274ea7" /><Relationship Type="http://schemas.openxmlformats.org/officeDocument/2006/relationships/notesMaster" Target="/ppt/notesMasters/notesMaster1.xml" Id="R8da2fbb3656240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7b69f00da04c34" /><Relationship Type="http://schemas.openxmlformats.org/officeDocument/2006/relationships/notesMaster" Target="/ppt/notesMasters/notesMaster1.xml" Id="Rf7452e99d4aa44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aebf3f65a648a9" /><Relationship Type="http://schemas.openxmlformats.org/officeDocument/2006/relationships/notesMaster" Target="/ppt/notesMasters/notesMaster1.xml" Id="R1100d8a6670144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09c4ac4bf04393" /><Relationship Type="http://schemas.openxmlformats.org/officeDocument/2006/relationships/notesMaster" Target="/ppt/notesMasters/notesMaster1.xml" Id="Rb307ea81965743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201c341f824ce1" /><Relationship Type="http://schemas.openxmlformats.org/officeDocument/2006/relationships/notesMaster" Target="/ppt/notesMasters/notesMaster1.xml" Id="R16ebdeec5ea541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7c0aefb8e04841" /><Relationship Type="http://schemas.openxmlformats.org/officeDocument/2006/relationships/notesMaster" Target="/ppt/notesMasters/notesMaster1.xml" Id="Rda547b4e6c734e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backend/data/pitch.txt. Cover statement reflects the current prototype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backend/data/pitch.txt; backend/test_app.py. The Series B valuation example is an existing unsupported-answer test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frontend/app.py, backend/routes/pitch.py, docs/architecture.md, docs/audit/01-live-home.png. Screenshot is a local audit capture of the current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backend/data/pitch.txt; backend/routes/pitch.py; docs/architecture.md; README.md. The slide distinguishes actual current behavior from scope limits.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frontend/app.py, backend/routes/pitch.py, backend/test_app.py, README.md. This is a proposed demo sequence using existing demo controls and tested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backend/data/pitch.txt; docs/architecture.md. The right column is explicitly proposed roadmap work. Authenticated workspaces, versioning, and encrypted storage are named future extensions in the supplied brief; visual document understanding addresses documented current exclusions.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1c610464341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e8f0ffac8e4e90" /><Relationship Type="http://schemas.openxmlformats.org/officeDocument/2006/relationships/slideLayout" Target="/ppt/slideLayouts/slideLayout1.xml" Id="R5c0f1c7e2d5243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0f1c7e2d5243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5ba6397124909" /><Relationship Type="http://schemas.openxmlformats.org/officeDocument/2006/relationships/notesSlide" Target="/ppt/notesSlides/notesSlide1.xml" Id="R2d267941f6294c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51a1e9f964107" /><Relationship Type="http://schemas.openxmlformats.org/officeDocument/2006/relationships/notesSlide" Target="/ppt/notesSlides/notesSlide2.xml" Id="Rc3ffa7f8532b4c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0d37c639a433b" /><Relationship Type="http://schemas.openxmlformats.org/officeDocument/2006/relationships/image" Target="/ppt/media/image.jpeg" Id="R569a09dbd47e41c9" /><Relationship Type="http://schemas.openxmlformats.org/officeDocument/2006/relationships/notesSlide" Target="/ppt/notesSlides/notesSlide3.xml" Id="Rf7b8d2916be442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68c0c91f34884" /><Relationship Type="http://schemas.openxmlformats.org/officeDocument/2006/relationships/notesSlide" Target="/ppt/notesSlides/notesSlide4.xml" Id="R23a2397bc60048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fac5b4a5a43e2" /><Relationship Type="http://schemas.openxmlformats.org/officeDocument/2006/relationships/notesSlide" Target="/ppt/notesSlides/notesSlide5.xml" Id="R3f5e96ee6f8944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eedc4969724bef" /><Relationship Type="http://schemas.openxmlformats.org/officeDocument/2006/relationships/notesSlide" Target="/ppt/notesSlides/notesSlide6.xml" Id="R078203a8c5c64b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72A71-FDCF-4699-A50E-BF2A0159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340"/>
            </a:solidFill>
            <a:prstDash val="solid"/>
          </a:ln>
        </p:spPr>
      </p:sp>
      <p:sp>
        <p:nvSpPr>
          <p:cNvPr id="2" name="slide-1-brand">
            <a:extLst xmlns:a="http://schemas.openxmlformats.org/drawingml/2006/main">
              <a:ext uri="{FF2B5EF4-FFF2-40B4-BE49-F238E27FC236}">
                <a16:creationId xmlns:a16="http://schemas.microsoft.com/office/drawing/2014/main" id="{01D0029C-38C8-4810-9AD8-65F080B8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PITCHROOM AI</a:t>
            </a:r>
          </a:p>
        </p:txBody>
      </p:sp>
      <p:sp>
        <p:nvSpPr>
          <p:cNvPr id="3" name="slide-1-folio">
            <a:extLst xmlns:a="http://schemas.openxmlformats.org/drawingml/2006/main">
              <a:ext uri="{FF2B5EF4-FFF2-40B4-BE49-F238E27FC236}">
                <a16:creationId xmlns:a16="http://schemas.microsoft.com/office/drawing/2014/main" id="{EACBFC84-2369-4D2D-8C16-9A25DB6A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01 / 06</a:t>
            </a:r>
          </a:p>
        </p:txBody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22DDA10-7DC8-42B0-9AF9-984420AF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6E8FF"/>
                </a:solidFill>
                <a:latin typeface="Helvetica Neue"/>
                <a:ea typeface="Helvetica Neue"/>
                <a:cs typeface="Helvetica Neue"/>
              </a:rPr>
              <a:t>VOICE-FIRST PITCH REHEARSAL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A36E24A-843C-4415-AAD1-DF0CB887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Every answer,</a:t>
            </a:r>
          </a:p>
          <a:p xmlns:a="http://schemas.openxmlformats.org/drawingml/2006/main">
            <a:pPr algn="l">
              <a:defRPr sz="49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from the deck.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E1B22FC-2CA0-4D0D-9E53-8D364172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A source-grounded, voice-first pitch rehearsal assistant for founder-led startup teams.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2B96B8-8B19-4933-9B78-ADF2BD45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66950"/>
            <a:ext cx="0" cy="1962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34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EE797-81CB-4306-9DFB-99974195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28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node-1-heading">
            <a:extLst xmlns:a="http://schemas.openxmlformats.org/drawingml/2006/main">
              <a:ext uri="{FF2B5EF4-FFF2-40B4-BE49-F238E27FC236}">
                <a16:creationId xmlns:a16="http://schemas.microsoft.com/office/drawing/2014/main" id="{9A1EAD85-59E3-4908-9404-DA69602F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574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Approved pitch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D61EF-4A95-4514-8E90-8B669EAC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node-2-heading">
            <a:extLst xmlns:a="http://schemas.openxmlformats.org/drawingml/2006/main">
              <a:ext uri="{FF2B5EF4-FFF2-40B4-BE49-F238E27FC236}">
                <a16:creationId xmlns:a16="http://schemas.microsoft.com/office/drawing/2014/main" id="{F9FD61BA-558B-4CE9-B470-E2DF688F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71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Recorded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8D19F1-16FE-471F-A9E5-2E3847B8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57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E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ver-node-3-heading">
            <a:extLst xmlns:a="http://schemas.openxmlformats.org/drawingml/2006/main">
              <a:ext uri="{FF2B5EF4-FFF2-40B4-BE49-F238E27FC236}">
                <a16:creationId xmlns:a16="http://schemas.microsoft.com/office/drawing/2014/main" id="{5B02C4FF-C433-44A4-820D-B80610BB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86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Grounded response</a:t>
            </a:r>
          </a:p>
        </p:txBody>
      </p:sp>
    </p:spTree>
    <p:extLst>
      <p:ext uri="{BB962C8B-B14F-4D97-AF65-F5344CB8AC3E}">
        <p14:creationId xmlns:p14="http://schemas.microsoft.com/office/powerpoint/2010/main" val="185683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5A6F5-C6CB-463E-AEBB-E222ADAF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340"/>
            </a:solidFill>
            <a:prstDash val="solid"/>
          </a:ln>
        </p:spPr>
      </p:sp>
      <p:sp>
        <p:nvSpPr>
          <p:cNvPr id="2" name="slide-2-brand">
            <a:extLst xmlns:a="http://schemas.openxmlformats.org/drawingml/2006/main">
              <a:ext uri="{FF2B5EF4-FFF2-40B4-BE49-F238E27FC236}">
                <a16:creationId xmlns:a16="http://schemas.microsoft.com/office/drawing/2014/main" id="{1CD866D2-2633-428A-8C30-70F979DA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PITCHROOM AI</a:t>
            </a:r>
          </a:p>
        </p:txBody>
      </p:sp>
      <p:sp>
        <p:nvSpPr>
          <p:cNvPr id="3" name="slide-2-folio">
            <a:extLst xmlns:a="http://schemas.openxmlformats.org/drawingml/2006/main">
              <a:ext uri="{FF2B5EF4-FFF2-40B4-BE49-F238E27FC236}">
                <a16:creationId xmlns:a16="http://schemas.microsoft.com/office/drawing/2014/main" id="{25D617C4-0D77-4DF1-97EA-E4FF168B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02 / 06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A9AF000-76FB-4548-A031-3CA9B05A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Static decks break under live questions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854137-56D6-41BD-B363-48D9BD4E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Pitch decks set a prepared narrative. They do not help founders answer unexpected questions in the room</a:t>
            </a:r>
          </a:p>
        </p:txBody>
      </p:sp>
      <p:sp>
        <p:nvSpPr>
          <p:cNvPr id="6" name="problem-intro">
            <a:extLst xmlns:a="http://schemas.openxmlformats.org/drawingml/2006/main">
              <a:ext uri="{FF2B5EF4-FFF2-40B4-BE49-F238E27FC236}">
                <a16:creationId xmlns:a16="http://schemas.microsoft.com/office/drawing/2014/main" id="{2AD72F8F-63BA-4B97-A925-74BC2D11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rPr>
              <a:t>When a question arrives, founders often choose between: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B17B5-9734-4360-8BCF-BDCFF05B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search-heading">
            <a:extLst xmlns:a="http://schemas.openxmlformats.org/drawingml/2006/main">
              <a:ext uri="{FF2B5EF4-FFF2-40B4-BE49-F238E27FC236}">
                <a16:creationId xmlns:a16="http://schemas.microsoft.com/office/drawing/2014/main" id="{29D7944B-F971-4444-92E4-6C92A500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Searching across slides</a:t>
            </a:r>
          </a:p>
        </p:txBody>
      </p:sp>
      <p:sp>
        <p:nvSpPr>
          <p:cNvPr id="9" name="problem-search-body">
            <a:extLst xmlns:a="http://schemas.openxmlformats.org/drawingml/2006/main">
              <a:ext uri="{FF2B5EF4-FFF2-40B4-BE49-F238E27FC236}">
                <a16:creationId xmlns:a16="http://schemas.microsoft.com/office/drawing/2014/main" id="{BEA80EF9-DBFA-42AB-BC21-A0332851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43275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The room waits while the founder looks for the approved detail.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6D7F6-6CEA-46F2-89FE-39EA96A9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improv-heading">
            <a:extLst xmlns:a="http://schemas.openxmlformats.org/drawingml/2006/main">
              <a:ext uri="{FF2B5EF4-FFF2-40B4-BE49-F238E27FC236}">
                <a16:creationId xmlns:a16="http://schemas.microsoft.com/office/drawing/2014/main" id="{75C8282F-98BB-4FDD-BB0B-C40522A5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Improvising an answer</a:t>
            </a:r>
          </a:p>
        </p:txBody>
      </p:sp>
      <p:sp>
        <p:nvSpPr>
          <p:cNvPr id="12" name="problem-improv-body">
            <a:extLst xmlns:a="http://schemas.openxmlformats.org/drawingml/2006/main">
              <a:ext uri="{FF2B5EF4-FFF2-40B4-BE49-F238E27FC236}">
                <a16:creationId xmlns:a16="http://schemas.microsoft.com/office/drawing/2014/main" id="{5034D59B-31EB-44FC-8DAF-3CCEF5D2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A claim can leave the approved pitch without anyone noticing.</a:t>
            </a:r>
          </a:p>
        </p:txBody>
      </p:sp>
      <p:sp>
        <p:nvSpPr>
          <p:cNvPr id="13" name="problem-question-surface">
            <a:extLst xmlns:a="http://schemas.openxmlformats.org/drawingml/2006/main">
              <a:ext uri="{FF2B5EF4-FFF2-40B4-BE49-F238E27FC236}">
                <a16:creationId xmlns:a16="http://schemas.microsoft.com/office/drawing/2014/main" id="{3FD4ED05-BE84-4875-B40C-586CF387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4629150" cy="28384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0D1228"/>
          </a:solidFill>
          <a:ln xmlns:a="http://schemas.openxmlformats.org/drawingml/2006/main" w="9525">
            <a:solidFill>
              <a:srgbClr val="283455"/>
            </a:solidFill>
            <a:prstDash val="solid"/>
          </a:ln>
        </p:spPr>
      </p:sp>
      <p:sp>
        <p:nvSpPr>
          <p:cNvPr id="14" name="problem-question-kicker">
            <a:extLst xmlns:a="http://schemas.openxmlformats.org/drawingml/2006/main">
              <a:ext uri="{FF2B5EF4-FFF2-40B4-BE49-F238E27FC236}">
                <a16:creationId xmlns:a16="http://schemas.microsoft.com/office/drawing/2014/main" id="{A0180882-C15A-4AB6-9436-DBCF4C2A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19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rPr>
              <a:t>A live question</a:t>
            </a:r>
          </a:p>
        </p:txBody>
      </p:sp>
      <p:sp>
        <p:nvSpPr>
          <p:cNvPr id="15" name="problem-question">
            <a:extLst xmlns:a="http://schemas.openxmlformats.org/drawingml/2006/main">
              <a:ext uri="{FF2B5EF4-FFF2-40B4-BE49-F238E27FC236}">
                <a16:creationId xmlns:a16="http://schemas.microsoft.com/office/drawing/2014/main" id="{39A94DFF-F7BD-45AB-B63B-911EBDA6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1467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“What is the Series B</a:t>
            </a:r>
          </a:p>
          <a:p xmlns:a="http://schemas.openxmlformats.org/drawingml/2006/main">
            <a:pPr algn="l">
              <a:defRPr sz="26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valuation?”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D80B5-1143-4F9E-BACC-36093C63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290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455"/>
            </a:solidFill>
            <a:prstDash val="solid"/>
          </a:ln>
        </p:spPr>
      </p:sp>
      <p:sp>
        <p:nvSpPr>
          <p:cNvPr id="17" name="problem-resolution">
            <a:extLst xmlns:a="http://schemas.openxmlformats.org/drawingml/2006/main">
              <a:ext uri="{FF2B5EF4-FFF2-40B4-BE49-F238E27FC236}">
                <a16:creationId xmlns:a16="http://schemas.microsoft.com/office/drawing/2014/main" id="{2EB09FC0-7D90-4E37-BF6E-1FE77D80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57675"/>
            <a:ext cx="358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1EB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1EBD4"/>
                </a:solidFill>
                <a:latin typeface="Helvetica Neue"/>
                <a:ea typeface="Helvetica Neue"/>
                <a:cs typeface="Helvetica Neue"/>
              </a:rPr>
              <a:t>Pitchroom keeps the answer inside the approved source.</a:t>
            </a:r>
          </a:p>
        </p:txBody>
      </p:sp>
      <p:sp>
        <p:nvSpPr>
          <p:cNvPr id="18" name="problem-boundary">
            <a:extLst xmlns:a="http://schemas.openxmlformats.org/drawingml/2006/main">
              <a:ext uri="{FF2B5EF4-FFF2-40B4-BE49-F238E27FC236}">
                <a16:creationId xmlns:a16="http://schemas.microsoft.com/office/drawing/2014/main" id="{137C1E26-04A1-43FA-AC2F-1FA9F66D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62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The product declines when the source cannot support an answer.</a:t>
            </a:r>
          </a:p>
        </p:txBody>
      </p:sp>
    </p:spTree>
    <p:extLst>
      <p:ext uri="{BB962C8B-B14F-4D97-AF65-F5344CB8AC3E}">
        <p14:creationId xmlns:p14="http://schemas.microsoft.com/office/powerpoint/2010/main" val="1570027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21EF25-7FB8-428A-9364-77EBD80E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340"/>
            </a:solidFill>
            <a:prstDash val="solid"/>
          </a:ln>
        </p:spPr>
      </p:sp>
      <p:sp>
        <p:nvSpPr>
          <p:cNvPr id="2" name="slide-3-brand">
            <a:extLst xmlns:a="http://schemas.openxmlformats.org/drawingml/2006/main">
              <a:ext uri="{FF2B5EF4-FFF2-40B4-BE49-F238E27FC236}">
                <a16:creationId xmlns:a16="http://schemas.microsoft.com/office/drawing/2014/main" id="{4190E20F-5AD7-4027-BD16-B1B927F8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PITCHROOM AI</a:t>
            </a:r>
          </a:p>
        </p:txBody>
      </p:sp>
      <p:sp>
        <p:nvSpPr>
          <p:cNvPr id="3" name="slide-3-folio">
            <a:extLst xmlns:a="http://schemas.openxmlformats.org/drawingml/2006/main">
              <a:ext uri="{FF2B5EF4-FFF2-40B4-BE49-F238E27FC236}">
                <a16:creationId xmlns:a16="http://schemas.microsoft.com/office/drawing/2014/main" id="{684E0DFD-1287-4748-9450-5EADAEFE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03 / 06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2F9D8B-A4E0-4B0B-A8AD-CCA86FC1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Recorded-turn voice workflow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5767F52-405E-4390-839E-44DD09BA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Pitchroom turns an approved pitch into a controlled answer loop</a:t>
            </a:r>
          </a:p>
        </p:txBody>
      </p:sp>
      <p:sp>
        <p:nvSpPr>
          <p:cNvPr id="6" name="product-screenshot-frame">
            <a:extLst xmlns:a="http://schemas.openxmlformats.org/drawingml/2006/main">
              <a:ext uri="{FF2B5EF4-FFF2-40B4-BE49-F238E27FC236}">
                <a16:creationId xmlns:a16="http://schemas.microsoft.com/office/drawing/2014/main" id="{1E97E9FF-BFE5-431F-8AD4-509A1262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8387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D1228"/>
          </a:solidFill>
          <a:ln xmlns:a="http://schemas.openxmlformats.org/drawingml/2006/main" w="9525">
            <a:solidFill>
              <a:srgbClr val="283455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a09dbd47e41c9"/>
          <a:srcRect xmlns:a="http://schemas.openxmlformats.org/drawingml/2006/main" l="0" t="1806" r="0" b="18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190750"/>
            <a:ext cx="4724400" cy="3162300"/>
          </a:xfrm>
          <a:prstGeom xmlns:a="http://schemas.openxmlformats.org/drawingml/2006/main" prst="roundRect">
            <a:avLst>
              <a:gd name="adj" fmla="val 3614"/>
            </a:avLst>
          </a:prstGeom>
        </p:spPr>
      </p:pic>
      <p:sp>
        <p:nvSpPr>
          <p:cNvPr id="8" name="product-ui-label">
            <a:extLst xmlns:a="http://schemas.openxmlformats.org/drawingml/2006/main">
              <a:ext uri="{FF2B5EF4-FFF2-40B4-BE49-F238E27FC236}">
                <a16:creationId xmlns:a16="http://schemas.microsoft.com/office/drawing/2014/main" id="{C289B8BC-1D8C-4135-A8DF-972C8B1E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Current UI</a:t>
            </a:r>
          </a:p>
        </p:txBody>
      </p:sp>
      <p:sp>
        <p:nvSpPr>
          <p:cNvPr id="9" name="product-ui-caption">
            <a:extLst xmlns:a="http://schemas.openxmlformats.org/drawingml/2006/main">
              <a:ext uri="{FF2B5EF4-FFF2-40B4-BE49-F238E27FC236}">
                <a16:creationId xmlns:a16="http://schemas.microsoft.com/office/drawing/2014/main" id="{A8BCB09C-F785-4D59-919F-38D3BDA9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72125"/>
            <a:ext cx="338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Document upload and microphone workspace</a:t>
            </a:r>
          </a:p>
        </p:txBody>
      </p:sp>
      <p:sp>
        <p:nvSpPr>
          <p:cNvPr id="10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B78B175-7D09-4A35-8220-6DFB494E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11" name="step-1-heading">
            <a:extLst xmlns:a="http://schemas.openxmlformats.org/drawingml/2006/main">
              <a:ext uri="{FF2B5EF4-FFF2-40B4-BE49-F238E27FC236}">
                <a16:creationId xmlns:a16="http://schemas.microsoft.com/office/drawing/2014/main" id="{0CE8062E-DC00-41D7-A9FF-6329534D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621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Load</a:t>
            </a:r>
          </a:p>
        </p:txBody>
      </p:sp>
      <p:sp>
        <p:nvSpPr>
          <p:cNvPr id="12" name="step-1-body">
            <a:extLst xmlns:a="http://schemas.openxmlformats.org/drawingml/2006/main">
              <a:ext uri="{FF2B5EF4-FFF2-40B4-BE49-F238E27FC236}">
                <a16:creationId xmlns:a16="http://schemas.microsoft.com/office/drawing/2014/main" id="{1FF8198D-2227-402D-82DB-B8E6D15D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66975"/>
            <a:ext cx="432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Use an approved text-based PDF, Markdown file, or plain-text brief.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1D642-268A-4CA8-933F-D352C619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2890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455"/>
            </a:solidFill>
            <a:prstDash val="solid"/>
          </a:ln>
        </p:spPr>
      </p:sp>
      <p:sp>
        <p:nvSpPr>
          <p:cNvPr id="14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25259145-B0AA-4917-A72B-4166ADFD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037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5" name="step-2-heading">
            <a:extLst xmlns:a="http://schemas.openxmlformats.org/drawingml/2006/main">
              <a:ext uri="{FF2B5EF4-FFF2-40B4-BE49-F238E27FC236}">
                <a16:creationId xmlns:a16="http://schemas.microsoft.com/office/drawing/2014/main" id="{E9D4A532-3BB1-4A69-A957-D5BE89D2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71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Record</a:t>
            </a:r>
          </a:p>
        </p:txBody>
      </p:sp>
      <p:sp>
        <p:nvSpPr>
          <p:cNvPr id="16" name="step-2-body">
            <a:extLst xmlns:a="http://schemas.openxmlformats.org/drawingml/2006/main">
              <a:ext uri="{FF2B5EF4-FFF2-40B4-BE49-F238E27FC236}">
                <a16:creationId xmlns:a16="http://schemas.microsoft.com/office/drawing/2014/main" id="{33842DA0-4EA9-4C95-B5DA-05CA73CE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76600"/>
            <a:ext cx="432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Capture one spoken question in the workspace.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6EFBF-1035-4C4C-982E-B7B1C726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38525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455"/>
            </a:solidFill>
            <a:prstDash val="solid"/>
          </a:ln>
        </p:spPr>
      </p:sp>
      <p:sp>
        <p:nvSpPr>
          <p:cNvPr id="18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5CEA35FC-3E5F-4D93-BD42-9D9C5FD6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100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6E8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step-3-heading">
            <a:extLst xmlns:a="http://schemas.openxmlformats.org/drawingml/2006/main">
              <a:ext uri="{FF2B5EF4-FFF2-40B4-BE49-F238E27FC236}">
                <a16:creationId xmlns:a16="http://schemas.microsoft.com/office/drawing/2014/main" id="{FB24E76D-07AD-4048-8330-E056DE1B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814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Ground</a:t>
            </a:r>
          </a:p>
        </p:txBody>
      </p:sp>
      <p:sp>
        <p:nvSpPr>
          <p:cNvPr id="20" name="step-3-body">
            <a:extLst xmlns:a="http://schemas.openxmlformats.org/drawingml/2006/main">
              <a:ext uri="{FF2B5EF4-FFF2-40B4-BE49-F238E27FC236}">
                <a16:creationId xmlns:a16="http://schemas.microsoft.com/office/drawing/2014/main" id="{DB721FB8-8AFB-4587-B1DC-8C486521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86225"/>
            <a:ext cx="432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Transcribe the question and select relevant source sections.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E5655B-6251-475F-97D1-B5C8A660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48150"/>
            <a:ext cx="0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455"/>
            </a:solidFill>
            <a:prstDash val="solid"/>
          </a:ln>
        </p:spPr>
      </p:sp>
      <p:sp>
        <p:nvSpPr>
          <p:cNvPr id="2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6740EB0B-8F80-401C-8DA2-227C14B2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19625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1EB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91EBD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step-4-heading">
            <a:extLst xmlns:a="http://schemas.openxmlformats.org/drawingml/2006/main">
              <a:ext uri="{FF2B5EF4-FFF2-40B4-BE49-F238E27FC236}">
                <a16:creationId xmlns:a16="http://schemas.microsoft.com/office/drawing/2014/main" id="{1C4868E6-C990-4547-81B1-148EF073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91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Speak</a:t>
            </a:r>
          </a:p>
        </p:txBody>
      </p:sp>
      <p:sp>
        <p:nvSpPr>
          <p:cNvPr id="24" name="step-4-body">
            <a:extLst xmlns:a="http://schemas.openxmlformats.org/drawingml/2006/main">
              <a:ext uri="{FF2B5EF4-FFF2-40B4-BE49-F238E27FC236}">
                <a16:creationId xmlns:a16="http://schemas.microsoft.com/office/drawing/2014/main" id="{B9174659-BD15-4EF3-9A0C-90027A3D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95850"/>
            <a:ext cx="432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Return the source-grounded answer as audio.</a:t>
            </a:r>
          </a:p>
        </p:txBody>
      </p:sp>
      <p:sp>
        <p:nvSpPr>
          <p:cNvPr id="25" name="product-turn-note">
            <a:extLst xmlns:a="http://schemas.openxmlformats.org/drawingml/2006/main">
              <a:ext uri="{FF2B5EF4-FFF2-40B4-BE49-F238E27FC236}">
                <a16:creationId xmlns:a16="http://schemas.microsoft.com/office/drawing/2014/main" id="{6D67B0EF-890C-4E4F-B233-53765B04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626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Current interaction: one recorded question per turn. It is not a continuous real-time conversation.</a:t>
            </a:r>
          </a:p>
        </p:txBody>
      </p:sp>
    </p:spTree>
    <p:extLst>
      <p:ext uri="{BB962C8B-B14F-4D97-AF65-F5344CB8AC3E}">
        <p14:creationId xmlns:p14="http://schemas.microsoft.com/office/powerpoint/2010/main" val="13248479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5782F2-A556-4ADD-9045-038999A7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340"/>
            </a:solidFill>
            <a:prstDash val="solid"/>
          </a:ln>
        </p:spPr>
      </p:sp>
      <p:sp>
        <p:nvSpPr>
          <p:cNvPr id="2" name="slide-4-brand">
            <a:extLst xmlns:a="http://schemas.openxmlformats.org/drawingml/2006/main">
              <a:ext uri="{FF2B5EF4-FFF2-40B4-BE49-F238E27FC236}">
                <a16:creationId xmlns:a16="http://schemas.microsoft.com/office/drawing/2014/main" id="{79BC0CC3-C871-4002-9F2B-5083E7B9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PITCHROOM AI</a:t>
            </a:r>
          </a:p>
        </p:txBody>
      </p:sp>
      <p:sp>
        <p:nvSpPr>
          <p:cNvPr id="3" name="slide-4-folio">
            <a:extLst xmlns:a="http://schemas.openxmlformats.org/drawingml/2006/main">
              <a:ext uri="{FF2B5EF4-FFF2-40B4-BE49-F238E27FC236}">
                <a16:creationId xmlns:a16="http://schemas.microsoft.com/office/drawing/2014/main" id="{B932E155-9415-4EBC-845E-D5F9EA6B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04 / 06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78E719-4BE3-4C98-98B3-0EBBABAB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Trust boundary and current scope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779A3C2-DBD9-4908-B140-C91DDDC2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The prototype treats the approved pitch as the answer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BC562-E191-49C1-8B01-98DC1FA2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14550"/>
            <a:ext cx="0" cy="3057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455"/>
            </a:solidFill>
            <a:prstDash val="solid"/>
          </a:ln>
        </p:spPr>
      </p:sp>
      <p:sp>
        <p:nvSpPr>
          <p:cNvPr id="7" name="trust-answer-title">
            <a:extLst xmlns:a="http://schemas.openxmlformats.org/drawingml/2006/main">
              <a:ext uri="{FF2B5EF4-FFF2-40B4-BE49-F238E27FC236}">
                <a16:creationId xmlns:a16="http://schemas.microsoft.com/office/drawing/2014/main" id="{96DDB79B-E7A1-419C-A1A2-35FEA35D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1EB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91EBD4"/>
                </a:solidFill>
                <a:latin typeface="Helvetica Neue"/>
                <a:ea typeface="Helvetica Neue"/>
                <a:cs typeface="Helvetica Neue"/>
              </a:rPr>
              <a:t>Answer behavior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38DAB-4BF1-41BE-BE37-7F2E0A10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E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ust-answer-1-heading">
            <a:extLst xmlns:a="http://schemas.openxmlformats.org/drawingml/2006/main">
              <a:ext uri="{FF2B5EF4-FFF2-40B4-BE49-F238E27FC236}">
                <a16:creationId xmlns:a16="http://schemas.microsoft.com/office/drawing/2014/main" id="{4249560A-0DD9-46B2-9602-2042AAE3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Relevant source sections</a:t>
            </a:r>
          </a:p>
        </p:txBody>
      </p:sp>
      <p:sp>
        <p:nvSpPr>
          <p:cNvPr id="10" name="trust-answer-1-body">
            <a:extLst xmlns:a="http://schemas.openxmlformats.org/drawingml/2006/main">
              <a:ext uri="{FF2B5EF4-FFF2-40B4-BE49-F238E27FC236}">
                <a16:creationId xmlns:a16="http://schemas.microsoft.com/office/drawing/2014/main" id="{ECEBC2B1-2B0C-4889-8173-AD7A0273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527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The service selects matching source chunks before answering.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FE347-4429-4491-BAD6-A4D5345D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E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rust-answer-2-heading">
            <a:extLst xmlns:a="http://schemas.openxmlformats.org/drawingml/2006/main">
              <a:ext uri="{FF2B5EF4-FFF2-40B4-BE49-F238E27FC236}">
                <a16:creationId xmlns:a16="http://schemas.microsoft.com/office/drawing/2014/main" id="{06F730EE-A79B-457C-ACF4-3DECC9FB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Extractive by default</a:t>
            </a:r>
          </a:p>
        </p:txBody>
      </p:sp>
      <p:sp>
        <p:nvSpPr>
          <p:cNvPr id="13" name="trust-answer-2-body">
            <a:extLst xmlns:a="http://schemas.openxmlformats.org/drawingml/2006/main">
              <a:ext uri="{FF2B5EF4-FFF2-40B4-BE49-F238E27FC236}">
                <a16:creationId xmlns:a16="http://schemas.microsoft.com/office/drawing/2014/main" id="{1E74B0CE-C8E0-422D-B856-00229CED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909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The current answer path returns source text instead of adding unsupported claims.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8B4440-CED7-48F7-BEAC-88D99148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1EB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ust-answer-3-heading">
            <a:extLst xmlns:a="http://schemas.openxmlformats.org/drawingml/2006/main">
              <a:ext uri="{FF2B5EF4-FFF2-40B4-BE49-F238E27FC236}">
                <a16:creationId xmlns:a16="http://schemas.microsoft.com/office/drawing/2014/main" id="{5C22C085-D2BC-4026-A6DD-BBB68E54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Clear decline</a:t>
            </a:r>
          </a:p>
        </p:txBody>
      </p:sp>
      <p:sp>
        <p:nvSpPr>
          <p:cNvPr id="16" name="trust-answer-3-body">
            <a:extLst xmlns:a="http://schemas.openxmlformats.org/drawingml/2006/main">
              <a:ext uri="{FF2B5EF4-FFF2-40B4-BE49-F238E27FC236}">
                <a16:creationId xmlns:a16="http://schemas.microsoft.com/office/drawing/2014/main" id="{662B7A69-F2F8-4875-92FE-5A28E63D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291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When no relevant source supports the question, the response says so.</a:t>
            </a:r>
          </a:p>
        </p:txBody>
      </p:sp>
      <p:sp>
        <p:nvSpPr>
          <p:cNvPr id="17" name="scope-title">
            <a:extLst xmlns:a="http://schemas.openxmlformats.org/drawingml/2006/main">
              <a:ext uri="{FF2B5EF4-FFF2-40B4-BE49-F238E27FC236}">
                <a16:creationId xmlns:a16="http://schemas.microsoft.com/office/drawing/2014/main" id="{4A62BDC4-5C1A-4490-B804-9E20E482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rPr>
              <a:t>Prototype 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B630DC-1D7A-473E-AD03-3302BDFB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86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ope-1-heading">
            <a:extLst xmlns:a="http://schemas.openxmlformats.org/drawingml/2006/main">
              <a:ext uri="{FF2B5EF4-FFF2-40B4-BE49-F238E27FC236}">
                <a16:creationId xmlns:a16="http://schemas.microsoft.com/office/drawing/2014/main" id="{E6A8EB65-BFDA-4890-900F-9C3A7885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388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Supported source formats</a:t>
            </a:r>
          </a:p>
        </p:txBody>
      </p:sp>
      <p:sp>
        <p:nvSpPr>
          <p:cNvPr id="20" name="scope-1-body">
            <a:extLst xmlns:a="http://schemas.openxmlformats.org/drawingml/2006/main">
              <a:ext uri="{FF2B5EF4-FFF2-40B4-BE49-F238E27FC236}">
                <a16:creationId xmlns:a16="http://schemas.microsoft.com/office/drawing/2014/main" id="{2F1F718D-4D70-43A0-AC07-75990C2F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527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Selectable text in PDFs, plus Markdown and plain text.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5E0D7-3BCA-454A-B5F1-F1936864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24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ope-2-heading">
            <a:extLst xmlns:a="http://schemas.openxmlformats.org/drawingml/2006/main">
              <a:ext uri="{FF2B5EF4-FFF2-40B4-BE49-F238E27FC236}">
                <a16:creationId xmlns:a16="http://schemas.microsoft.com/office/drawing/2014/main" id="{DA23EBFB-4749-43C4-BE5B-9EF24265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5700"/>
            <a:ext cx="388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Demo storage</a:t>
            </a:r>
          </a:p>
        </p:txBody>
      </p:sp>
      <p:sp>
        <p:nvSpPr>
          <p:cNvPr id="23" name="scope-2-body">
            <a:extLst xmlns:a="http://schemas.openxmlformats.org/drawingml/2006/main">
              <a:ext uri="{FF2B5EF4-FFF2-40B4-BE49-F238E27FC236}">
                <a16:creationId xmlns:a16="http://schemas.microsoft.com/office/drawing/2014/main" id="{CD60B875-BE7B-4422-8451-70F3BF7F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909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The active pitch stays in memory and resets when the service restarts.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286C88-A5D8-44EF-A87D-A12D2DEC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62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cope-3-heading">
            <a:extLst xmlns:a="http://schemas.openxmlformats.org/drawingml/2006/main">
              <a:ext uri="{FF2B5EF4-FFF2-40B4-BE49-F238E27FC236}">
                <a16:creationId xmlns:a16="http://schemas.microsoft.com/office/drawing/2014/main" id="{F55FFB29-8396-464D-AF43-AC5F051F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33900"/>
            <a:ext cx="3886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Voice setup</a:t>
            </a:r>
          </a:p>
        </p:txBody>
      </p:sp>
      <p:sp>
        <p:nvSpPr>
          <p:cNvPr id="26" name="scope-3-body">
            <a:extLst xmlns:a="http://schemas.openxmlformats.org/drawingml/2006/main">
              <a:ext uri="{FF2B5EF4-FFF2-40B4-BE49-F238E27FC236}">
                <a16:creationId xmlns:a16="http://schemas.microsoft.com/office/drawing/2014/main" id="{94CED76A-5CAC-46E0-80FD-D09EBD2B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291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Transcription and speech need configured providers before a voice demo.</a:t>
            </a:r>
          </a:p>
        </p:txBody>
      </p:sp>
      <p:sp>
        <p:nvSpPr>
          <p:cNvPr id="27" name="scope-exclusion-surface">
            <a:extLst xmlns:a="http://schemas.openxmlformats.org/drawingml/2006/main">
              <a:ext uri="{FF2B5EF4-FFF2-40B4-BE49-F238E27FC236}">
                <a16:creationId xmlns:a16="http://schemas.microsoft.com/office/drawing/2014/main" id="{D342B974-ABBE-4F89-B604-6E10F23D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1346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A2438"/>
          </a:solidFill>
          <a:ln xmlns:a="http://schemas.openxmlformats.org/drawingml/2006/main" w="9525">
            <a:solidFill>
              <a:srgbClr val="71364B"/>
            </a:solidFill>
            <a:prstDash val="solid"/>
          </a:ln>
        </p:spPr>
      </p:sp>
      <p:sp>
        <p:nvSpPr>
          <p:cNvPr id="28" name="scope-exclusion">
            <a:extLst xmlns:a="http://schemas.openxmlformats.org/drawingml/2006/main">
              <a:ext uri="{FF2B5EF4-FFF2-40B4-BE49-F238E27FC236}">
                <a16:creationId xmlns:a16="http://schemas.microsoft.com/office/drawing/2014/main" id="{9B1D9CFC-06BD-4005-8EB1-D8D43714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86425"/>
            <a:ext cx="8953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4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B4C2"/>
                </a:solidFill>
                <a:latin typeface="Helvetica Neue"/>
                <a:ea typeface="Helvetica Neue"/>
                <a:cs typeface="Helvetica Neue"/>
              </a:rPr>
              <a:t>Not yet supported: image-only slides, charts, or scanned documents.</a:t>
            </a:r>
          </a:p>
        </p:txBody>
      </p:sp>
    </p:spTree>
    <p:extLst>
      <p:ext uri="{BB962C8B-B14F-4D97-AF65-F5344CB8AC3E}">
        <p14:creationId xmlns:p14="http://schemas.microsoft.com/office/powerpoint/2010/main" val="4902387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395BFE-CFFF-4993-9AE3-B6D687D9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340"/>
            </a:solidFill>
            <a:prstDash val="solid"/>
          </a:ln>
        </p:spPr>
      </p:sp>
      <p:sp>
        <p:nvSpPr>
          <p:cNvPr id="2" name="slide-5-brand">
            <a:extLst xmlns:a="http://schemas.openxmlformats.org/drawingml/2006/main">
              <a:ext uri="{FF2B5EF4-FFF2-40B4-BE49-F238E27FC236}">
                <a16:creationId xmlns:a16="http://schemas.microsoft.com/office/drawing/2014/main" id="{E4097424-19C8-421C-9A7B-22A59E1E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PITCHROOM AI</a:t>
            </a:r>
          </a:p>
        </p:txBody>
      </p:sp>
      <p:sp>
        <p:nvSpPr>
          <p:cNvPr id="3" name="slide-5-folio">
            <a:extLst xmlns:a="http://schemas.openxmlformats.org/drawingml/2006/main">
              <a:ext uri="{FF2B5EF4-FFF2-40B4-BE49-F238E27FC236}">
                <a16:creationId xmlns:a16="http://schemas.microsoft.com/office/drawing/2014/main" id="{C4666A1F-E6AC-49BA-9903-44F471E3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05 / 06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DD05FB-EBDD-454D-BD85-FD03B1E8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A 90-second judge demo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0927662-7FE6-476D-BFA3-91656E37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Show the full speech-to-speech loop, then prove that the boundary holds</a:t>
            </a:r>
          </a:p>
        </p:txBody>
      </p:sp>
      <p:sp>
        <p:nvSpPr>
          <p:cNvPr id="6" name="demo-1-time">
            <a:extLst xmlns:a="http://schemas.openxmlformats.org/drawingml/2006/main">
              <a:ext uri="{FF2B5EF4-FFF2-40B4-BE49-F238E27FC236}">
                <a16:creationId xmlns:a16="http://schemas.microsoft.com/office/drawing/2014/main" id="{39D4BFC7-7A93-43B5-98AB-3C8DC88B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00:00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FEE7E-2935-4BEB-84A7-B4D528DD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257425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3455"/>
            </a:solidFill>
            <a:prstDash val="solid"/>
          </a:ln>
        </p:spPr>
      </p:sp>
      <p:sp>
        <p:nvSpPr>
          <p:cNvPr id="8" name="demo-1-heading">
            <a:extLst xmlns:a="http://schemas.openxmlformats.org/drawingml/2006/main">
              <a:ext uri="{FF2B5EF4-FFF2-40B4-BE49-F238E27FC236}">
                <a16:creationId xmlns:a16="http://schemas.microsoft.com/office/drawing/2014/main" id="{CB17B35B-D2F5-4497-B8F1-82EE4CC3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098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Load the demo source</a:t>
            </a:r>
          </a:p>
        </p:txBody>
      </p:sp>
      <p:sp>
        <p:nvSpPr>
          <p:cNvPr id="9" name="demo-1-body">
            <a:extLst xmlns:a="http://schemas.openxmlformats.org/drawingml/2006/main">
              <a:ext uri="{FF2B5EF4-FFF2-40B4-BE49-F238E27FC236}">
                <a16:creationId xmlns:a16="http://schemas.microsoft.com/office/drawing/2014/main" id="{0E8F2F5F-24BC-4948-89B7-2661E07F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19325"/>
            <a:ext cx="518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Open the built-in fact sheet and show the transcript as the evidence base.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4C798-50D4-446B-A419-FB7407B2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340"/>
            </a:solidFill>
            <a:prstDash val="solid"/>
          </a:ln>
        </p:spPr>
      </p:sp>
      <p:sp>
        <p:nvSpPr>
          <p:cNvPr id="11" name="demo-2-time">
            <a:extLst xmlns:a="http://schemas.openxmlformats.org/drawingml/2006/main">
              <a:ext uri="{FF2B5EF4-FFF2-40B4-BE49-F238E27FC236}">
                <a16:creationId xmlns:a16="http://schemas.microsoft.com/office/drawing/2014/main" id="{EAE9C73C-14B2-4FA1-A573-4B1D99B5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00:20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70970-12F4-46DA-B3F1-6F5EFFF4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057525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3455"/>
            </a:solidFill>
            <a:prstDash val="solid"/>
          </a:ln>
        </p:spPr>
      </p:sp>
      <p:sp>
        <p:nvSpPr>
          <p:cNvPr id="13" name="demo-2-heading">
            <a:extLst xmlns:a="http://schemas.openxmlformats.org/drawingml/2006/main">
              <a:ext uri="{FF2B5EF4-FFF2-40B4-BE49-F238E27FC236}">
                <a16:creationId xmlns:a16="http://schemas.microsoft.com/office/drawing/2014/main" id="{5690E386-FE2C-426E-BDF4-3EEA521E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099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Ask the known question</a:t>
            </a:r>
          </a:p>
        </p:txBody>
      </p:sp>
      <p:sp>
        <p:nvSpPr>
          <p:cNvPr id="14" name="demo-2-body">
            <a:extLst xmlns:a="http://schemas.openxmlformats.org/drawingml/2006/main">
              <a:ext uri="{FF2B5EF4-FFF2-40B4-BE49-F238E27FC236}">
                <a16:creationId xmlns:a16="http://schemas.microsoft.com/office/drawing/2014/main" id="{B63C6E92-7BE7-4E01-9FED-027CBB72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19425"/>
            <a:ext cx="518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Use: “What problem does Pitchroom AI solve?” Show the grounded answer.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05FFC-91E9-47A3-B02F-FB5CC620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340"/>
            </a:solidFill>
            <a:prstDash val="solid"/>
          </a:ln>
        </p:spPr>
      </p:sp>
      <p:sp>
        <p:nvSpPr>
          <p:cNvPr id="16" name="demo-3-time">
            <a:extLst xmlns:a="http://schemas.openxmlformats.org/drawingml/2006/main">
              <a:ext uri="{FF2B5EF4-FFF2-40B4-BE49-F238E27FC236}">
                <a16:creationId xmlns:a16="http://schemas.microsoft.com/office/drawing/2014/main" id="{D2537BC0-57EB-4019-98BF-E7F87FDB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00:45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245E4-2730-4607-BAF8-5E1618AB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857625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3455"/>
            </a:solidFill>
            <a:prstDash val="solid"/>
          </a:ln>
        </p:spPr>
      </p:sp>
      <p:sp>
        <p:nvSpPr>
          <p:cNvPr id="18" name="demo-3-heading">
            <a:extLst xmlns:a="http://schemas.openxmlformats.org/drawingml/2006/main">
              <a:ext uri="{FF2B5EF4-FFF2-40B4-BE49-F238E27FC236}">
                <a16:creationId xmlns:a16="http://schemas.microsoft.com/office/drawing/2014/main" id="{985BF3AC-5F9D-45A8-B9E1-5ED905F6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100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Record the question</a:t>
            </a:r>
          </a:p>
        </p:txBody>
      </p:sp>
      <p:sp>
        <p:nvSpPr>
          <p:cNvPr id="19" name="demo-3-body">
            <a:extLst xmlns:a="http://schemas.openxmlformats.org/drawingml/2006/main">
              <a:ext uri="{FF2B5EF4-FFF2-40B4-BE49-F238E27FC236}">
                <a16:creationId xmlns:a16="http://schemas.microsoft.com/office/drawing/2014/main" id="{4A7F9C26-3E52-456F-A855-7654E8C8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19525"/>
            <a:ext cx="518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Show transcription, the source-grounded answer, and spoken playback.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12C79-F43D-431D-8647-72C704DA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340"/>
            </a:solidFill>
            <a:prstDash val="solid"/>
          </a:ln>
        </p:spPr>
      </p:sp>
      <p:sp>
        <p:nvSpPr>
          <p:cNvPr id="21" name="demo-4-time">
            <a:extLst xmlns:a="http://schemas.openxmlformats.org/drawingml/2006/main">
              <a:ext uri="{FF2B5EF4-FFF2-40B4-BE49-F238E27FC236}">
                <a16:creationId xmlns:a16="http://schemas.microsoft.com/office/drawing/2014/main" id="{B026970A-AE21-4810-B411-19CD64A1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01:10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D9EE9F-8AEE-4E38-A112-6F98C8F9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57725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83455"/>
            </a:solidFill>
            <a:prstDash val="solid"/>
          </a:ln>
        </p:spPr>
      </p:sp>
      <p:sp>
        <p:nvSpPr>
          <p:cNvPr id="23" name="demo-4-heading">
            <a:extLst xmlns:a="http://schemas.openxmlformats.org/drawingml/2006/main">
              <a:ext uri="{FF2B5EF4-FFF2-40B4-BE49-F238E27FC236}">
                <a16:creationId xmlns:a16="http://schemas.microsoft.com/office/drawing/2014/main" id="{759B75EA-43EA-42E1-A364-DC4EE7FF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101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Test the boundary</a:t>
            </a:r>
          </a:p>
        </p:txBody>
      </p:sp>
      <p:sp>
        <p:nvSpPr>
          <p:cNvPr id="24" name="demo-4-body">
            <a:extLst xmlns:a="http://schemas.openxmlformats.org/drawingml/2006/main">
              <a:ext uri="{FF2B5EF4-FFF2-40B4-BE49-F238E27FC236}">
                <a16:creationId xmlns:a16="http://schemas.microsoft.com/office/drawing/2014/main" id="{84B95C84-CE83-43AE-A915-40EEA657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9625"/>
            <a:ext cx="518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Ask: “What is the Series B valuation?”</a:t>
            </a:r>
          </a:p>
          <a:p xmlns:a="http://schemas.openxmlformats.org/drawingml/2006/main">
            <a:pPr algn="l">
              <a:def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Show the supported decline.</a:t>
            </a:r>
          </a:p>
        </p:txBody>
      </p:sp>
      <p:sp>
        <p:nvSpPr>
          <p:cNvPr id="25" name="demo-prereq-surface">
            <a:extLst xmlns:a="http://schemas.openxmlformats.org/drawingml/2006/main">
              <a:ext uri="{FF2B5EF4-FFF2-40B4-BE49-F238E27FC236}">
                <a16:creationId xmlns:a16="http://schemas.microsoft.com/office/drawing/2014/main" id="{B6575710-6478-4703-9EC8-B9164F3A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1346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21A37"/>
          </a:solidFill>
          <a:ln xmlns:a="http://schemas.openxmlformats.org/drawingml/2006/main" w="9525">
            <a:solidFill>
              <a:srgbClr val="283455"/>
            </a:solidFill>
            <a:prstDash val="solid"/>
          </a:ln>
        </p:spPr>
      </p:sp>
      <p:sp>
        <p:nvSpPr>
          <p:cNvPr id="26" name="demo-prereq">
            <a:extLst xmlns:a="http://schemas.openxmlformats.org/drawingml/2006/main">
              <a:ext uri="{FF2B5EF4-FFF2-40B4-BE49-F238E27FC236}">
                <a16:creationId xmlns:a16="http://schemas.microsoft.com/office/drawing/2014/main" id="{898E8D4B-9BF3-4D83-B751-B5C02286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43575"/>
            <a:ext cx="923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A6E8FF"/>
                </a:solidFill>
                <a:latin typeface="Helvetica Neue"/>
                <a:ea typeface="Helvetica Neue"/>
                <a:cs typeface="Helvetica Neue"/>
              </a:rPr>
              <a:t>Before presenting: configure Hugging Face transcription and one speech provider.</a:t>
            </a:r>
          </a:p>
        </p:txBody>
      </p:sp>
    </p:spTree>
    <p:extLst>
      <p:ext uri="{BB962C8B-B14F-4D97-AF65-F5344CB8AC3E}">
        <p14:creationId xmlns:p14="http://schemas.microsoft.com/office/powerpoint/2010/main" val="619137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08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98B1C-AC85-49F3-9AE8-EE012217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A2340"/>
            </a:solidFill>
            <a:prstDash val="solid"/>
          </a:ln>
        </p:spPr>
      </p:sp>
      <p:sp>
        <p:nvSpPr>
          <p:cNvPr id="2" name="slide-6-brand">
            <a:extLst xmlns:a="http://schemas.openxmlformats.org/drawingml/2006/main">
              <a:ext uri="{FF2B5EF4-FFF2-40B4-BE49-F238E27FC236}">
                <a16:creationId xmlns:a16="http://schemas.microsoft.com/office/drawing/2014/main" id="{E872C600-9107-48EF-98D3-36EA0253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PITCHROOM AI</a:t>
            </a:r>
          </a:p>
        </p:txBody>
      </p:sp>
      <p:sp>
        <p:nvSpPr>
          <p:cNvPr id="3" name="slide-6-folio">
            <a:extLst xmlns:a="http://schemas.openxmlformats.org/drawingml/2006/main">
              <a:ext uri="{FF2B5EF4-FFF2-40B4-BE49-F238E27FC236}">
                <a16:creationId xmlns:a16="http://schemas.microsoft.com/office/drawing/2014/main" id="{CDB96FCC-F583-42F5-B8D0-B49515A5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09550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17A9E"/>
                </a:solidFill>
                <a:latin typeface="Helvetica Neue"/>
                <a:ea typeface="Helvetica Neue"/>
                <a:cs typeface="Helvetica Neue"/>
              </a:rPr>
              <a:t>06 / 06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5D5157-2879-4BE5-8A2E-54AF9200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From prototype to trusted workspace</a:t>
            </a:r>
          </a:p>
        </p:txBody>
      </p:sp>
      <p:sp>
        <p:nvSpPr>
          <p:cNvPr id="5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183C45D-C73A-4AE0-A525-8D93F948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838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AAB1D5"/>
                </a:solidFill>
                <a:latin typeface="Helvetica Neue"/>
                <a:ea typeface="Helvetica Neue"/>
                <a:cs typeface="Helvetica Neue"/>
              </a:rPr>
              <a:t>The next build turns one demo source into a durable pitch practice environment</a:t>
            </a:r>
          </a:p>
        </p:txBody>
      </p:sp>
      <p:sp>
        <p:nvSpPr>
          <p:cNvPr id="6" name="roadmap-today-label">
            <a:extLst xmlns:a="http://schemas.openxmlformats.org/drawingml/2006/main">
              <a:ext uri="{FF2B5EF4-FFF2-40B4-BE49-F238E27FC236}">
                <a16:creationId xmlns:a16="http://schemas.microsoft.com/office/drawing/2014/main" id="{D3C7B965-A350-4D9B-BFCA-5FDE3027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D91FF"/>
                </a:solidFill>
                <a:latin typeface="Helvetica Neue"/>
                <a:ea typeface="Helvetica Neue"/>
                <a:cs typeface="Helvetica Neue"/>
              </a:rPr>
              <a:t>Today</a:t>
            </a:r>
          </a:p>
        </p:txBody>
      </p:sp>
      <p:sp>
        <p:nvSpPr>
          <p:cNvPr id="7" name="roadmap-today-items">
            <a:extLst xmlns:a="http://schemas.openxmlformats.org/drawingml/2006/main">
              <a:ext uri="{FF2B5EF4-FFF2-40B4-BE49-F238E27FC236}">
                <a16:creationId xmlns:a16="http://schemas.microsoft.com/office/drawing/2014/main" id="{245B1C27-2A63-4B72-9D7E-64449F3E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943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rPr>
              <a:t>A single active source</a:t>
            </a:r>
          </a:p>
          <a:p xmlns:a="http://schemas.openxmlformats.org/drawingml/2006/main">
            <a:pPr algn="l">
              <a:defRPr sz="19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rPr>
              <a:t>Turn-based voice workflow</a:t>
            </a:r>
          </a:p>
          <a:p xmlns:a="http://schemas.openxmlformats.org/drawingml/2006/main">
            <a:pPr algn="l">
              <a:defRPr sz="19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5DAF5"/>
                </a:solidFill>
                <a:latin typeface="Helvetica Neue"/>
                <a:ea typeface="Helvetica Neue"/>
                <a:cs typeface="Helvetica Neue"/>
              </a:rPr>
              <a:t>Text-first document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378F2-4430-4EBC-89CD-68AF16A4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28850"/>
            <a:ext cx="0" cy="2609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455"/>
            </a:solidFill>
            <a:prstDash val="solid"/>
          </a:ln>
        </p:spPr>
      </p:sp>
      <p:sp>
        <p:nvSpPr>
          <p:cNvPr id="9" name="roadmap-next-label">
            <a:extLst xmlns:a="http://schemas.openxmlformats.org/drawingml/2006/main">
              <a:ext uri="{FF2B5EF4-FFF2-40B4-BE49-F238E27FC236}">
                <a16:creationId xmlns:a16="http://schemas.microsoft.com/office/drawing/2014/main" id="{EA3CD03B-5178-44E4-B589-72A9DEB4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669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18DFF"/>
                </a:solidFill>
                <a:latin typeface="Helvetica Neue"/>
                <a:ea typeface="Helvetica Neue"/>
                <a:cs typeface="Helvetica Neue"/>
              </a:rPr>
              <a:t>Proposed next 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773E1-A3A0-4369-9B39-385ADBA4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admap-next-1">
            <a:extLst xmlns:a="http://schemas.openxmlformats.org/drawingml/2006/main">
              <a:ext uri="{FF2B5EF4-FFF2-40B4-BE49-F238E27FC236}">
                <a16:creationId xmlns:a16="http://schemas.microsoft.com/office/drawing/2014/main" id="{FD57A2A0-136F-4B4B-82A1-9D0649B7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336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Authenticated workspaces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29008-9FBD-4BAD-B115-05C9544C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05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admap-next-2">
            <a:extLst xmlns:a="http://schemas.openxmlformats.org/drawingml/2006/main">
              <a:ext uri="{FF2B5EF4-FFF2-40B4-BE49-F238E27FC236}">
                <a16:creationId xmlns:a16="http://schemas.microsoft.com/office/drawing/2014/main" id="{DD91E2E9-7231-4AE7-9862-DF04F407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57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Versioned pitch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566122-2163-4167-8AFB-29406F75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29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admap-next-3">
            <a:extLst xmlns:a="http://schemas.openxmlformats.org/drawingml/2006/main">
              <a:ext uri="{FF2B5EF4-FFF2-40B4-BE49-F238E27FC236}">
                <a16:creationId xmlns:a16="http://schemas.microsoft.com/office/drawing/2014/main" id="{E0AE6380-B6B1-4D9E-9C53-365934AA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814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Encrypted storage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7C6FE-D5DC-414D-8B6E-CBF44F96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52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admap-next-4">
            <a:extLst xmlns:a="http://schemas.openxmlformats.org/drawingml/2006/main">
              <a:ext uri="{FF2B5EF4-FFF2-40B4-BE49-F238E27FC236}">
                <a16:creationId xmlns:a16="http://schemas.microsoft.com/office/drawing/2014/main" id="{51CD4B52-F313-461A-BCD2-17AF917A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053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Visual document understanding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7F4B3-F77C-4FF5-8FBA-2109C84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3455"/>
            </a:solidFill>
            <a:prstDash val="solid"/>
          </a:ln>
        </p:spPr>
      </p:sp>
      <p:sp>
        <p:nvSpPr>
          <p:cNvPr id="19" name="close-brand">
            <a:extLst xmlns:a="http://schemas.openxmlformats.org/drawingml/2006/main">
              <a:ext uri="{FF2B5EF4-FFF2-40B4-BE49-F238E27FC236}">
                <a16:creationId xmlns:a16="http://schemas.microsoft.com/office/drawing/2014/main" id="{4D1DF585-5AE0-4550-B463-987529F3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6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A6E8FF"/>
                </a:solidFill>
                <a:latin typeface="Helvetica Neue"/>
                <a:ea typeface="Helvetica Neue"/>
                <a:cs typeface="Helvetica Neue"/>
              </a:rPr>
              <a:t>Pitchroom AI</a:t>
            </a:r>
          </a:p>
        </p:txBody>
      </p:sp>
      <p:sp>
        <p:nvSpPr>
          <p:cNvPr id="20" name="close-line">
            <a:extLst xmlns:a="http://schemas.openxmlformats.org/drawingml/2006/main">
              <a:ext uri="{FF2B5EF4-FFF2-40B4-BE49-F238E27FC236}">
                <a16:creationId xmlns:a16="http://schemas.microsoft.com/office/drawing/2014/main" id="{EC2B65E9-9361-4805-B1CC-1CD99D33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562600"/>
            <a:ext cx="685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5F5FF"/>
                </a:solidFill>
                <a:latin typeface="Helvetica Neue"/>
                <a:ea typeface="Helvetica Neue"/>
                <a:cs typeface="Helvetica Neue"/>
              </a:rPr>
              <a:t>Every answer, from the deck.</a:t>
            </a:r>
          </a:p>
        </p:txBody>
      </p:sp>
    </p:spTree>
    <p:extLst>
      <p:ext uri="{BB962C8B-B14F-4D97-AF65-F5344CB8AC3E}">
        <p14:creationId xmlns:p14="http://schemas.microsoft.com/office/powerpoint/2010/main" val="953727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2026-09-13T07:57:11.2180000Z</dcterms:created>
  <dcterms:modified xsi:type="dcterms:W3CDTF">2026-09-13T07:57:11.2180000Z</dcterms:modified>
</coreProperties>
</file>